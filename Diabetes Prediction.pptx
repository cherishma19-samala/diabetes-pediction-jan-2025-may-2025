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58" r:id="rId7"/>
    <p:sldId id="262" r:id="rId8"/>
    <p:sldId id="265" r:id="rId9"/>
    <p:sldId id="298" r:id="rId10"/>
    <p:sldId id="276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97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95" r:id="rId27"/>
    <p:sldId id="286" r:id="rId28"/>
    <p:sldId id="288" r:id="rId29"/>
    <p:sldId id="287" r:id="rId30"/>
    <p:sldId id="289" r:id="rId31"/>
    <p:sldId id="294" r:id="rId32"/>
    <p:sldId id="290" r:id="rId33"/>
    <p:sldId id="291" r:id="rId34"/>
    <p:sldId id="292" r:id="rId35"/>
    <p:sldId id="293" r:id="rId36"/>
    <p:sldId id="266" r:id="rId37"/>
    <p:sldId id="268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4E05C67-B107-4323-B615-50770CD0FA3B}">
          <p14:sldIdLst>
            <p14:sldId id="256"/>
            <p14:sldId id="257"/>
            <p14:sldId id="258"/>
            <p14:sldId id="262"/>
            <p14:sldId id="265"/>
            <p14:sldId id="298"/>
            <p14:sldId id="276"/>
            <p14:sldId id="269"/>
            <p14:sldId id="270"/>
            <p14:sldId id="271"/>
            <p14:sldId id="272"/>
            <p14:sldId id="273"/>
            <p14:sldId id="274"/>
            <p14:sldId id="275"/>
            <p14:sldId id="297"/>
            <p14:sldId id="279"/>
            <p14:sldId id="280"/>
            <p14:sldId id="281"/>
            <p14:sldId id="282"/>
            <p14:sldId id="283"/>
            <p14:sldId id="284"/>
            <p14:sldId id="285"/>
            <p14:sldId id="295"/>
            <p14:sldId id="286"/>
            <p14:sldId id="288"/>
            <p14:sldId id="287"/>
            <p14:sldId id="289"/>
            <p14:sldId id="294"/>
            <p14:sldId id="290"/>
            <p14:sldId id="291"/>
            <p14:sldId id="292"/>
            <p14:sldId id="293"/>
            <p14:sldId id="266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5033" autoAdjust="0"/>
  </p:normalViewPr>
  <p:slideViewPr>
    <p:cSldViewPr snapToGrid="0">
      <p:cViewPr varScale="1">
        <p:scale>
          <a:sx n="96" d="100"/>
          <a:sy n="96" d="100"/>
        </p:scale>
        <p:origin x="1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vitha Vadlamudi" userId="b939f15003dd7dec" providerId="LiveId" clId="{6336E2D5-8FFC-4A1D-8B9D-2E242D583E55}"/>
    <pc:docChg chg="undo custSel addSld delSld modSld sldOrd modSection">
      <pc:chgData name="Tanvitha Vadlamudi" userId="b939f15003dd7dec" providerId="LiveId" clId="{6336E2D5-8FFC-4A1D-8B9D-2E242D583E55}" dt="2025-04-30T02:24:44.316" v="425" actId="255"/>
      <pc:docMkLst>
        <pc:docMk/>
      </pc:docMkLst>
      <pc:sldChg chg="modSp mod">
        <pc:chgData name="Tanvitha Vadlamudi" userId="b939f15003dd7dec" providerId="LiveId" clId="{6336E2D5-8FFC-4A1D-8B9D-2E242D583E55}" dt="2025-04-30T02:17:46.614" v="406" actId="14100"/>
        <pc:sldMkLst>
          <pc:docMk/>
          <pc:sldMk cId="45996346" sldId="257"/>
        </pc:sldMkLst>
      </pc:sldChg>
      <pc:sldChg chg="del">
        <pc:chgData name="Tanvitha Vadlamudi" userId="b939f15003dd7dec" providerId="LiveId" clId="{6336E2D5-8FFC-4A1D-8B9D-2E242D583E55}" dt="2025-04-29T23:29:47.236" v="120" actId="2696"/>
        <pc:sldMkLst>
          <pc:docMk/>
          <pc:sldMk cId="954197419" sldId="260"/>
        </pc:sldMkLst>
      </pc:sldChg>
      <pc:sldChg chg="del">
        <pc:chgData name="Tanvitha Vadlamudi" userId="b939f15003dd7dec" providerId="LiveId" clId="{6336E2D5-8FFC-4A1D-8B9D-2E242D583E55}" dt="2025-04-29T23:02:20.806" v="5" actId="2696"/>
        <pc:sldMkLst>
          <pc:docMk/>
          <pc:sldMk cId="2025065355" sldId="261"/>
        </pc:sldMkLst>
      </pc:sldChg>
      <pc:sldChg chg="modSp add del mod">
        <pc:chgData name="Tanvitha Vadlamudi" userId="b939f15003dd7dec" providerId="LiveId" clId="{6336E2D5-8FFC-4A1D-8B9D-2E242D583E55}" dt="2025-04-30T02:12:17.344" v="264" actId="255"/>
        <pc:sldMkLst>
          <pc:docMk/>
          <pc:sldMk cId="3617464001" sldId="262"/>
        </pc:sldMkLst>
      </pc:sldChg>
      <pc:sldChg chg="del">
        <pc:chgData name="Tanvitha Vadlamudi" userId="b939f15003dd7dec" providerId="LiveId" clId="{6336E2D5-8FFC-4A1D-8B9D-2E242D583E55}" dt="2025-04-29T23:30:48.534" v="124" actId="2696"/>
        <pc:sldMkLst>
          <pc:docMk/>
          <pc:sldMk cId="160452240" sldId="263"/>
        </pc:sldMkLst>
      </pc:sldChg>
      <pc:sldChg chg="del">
        <pc:chgData name="Tanvitha Vadlamudi" userId="b939f15003dd7dec" providerId="LiveId" clId="{6336E2D5-8FFC-4A1D-8B9D-2E242D583E55}" dt="2025-04-29T23:02:31.775" v="6" actId="2696"/>
        <pc:sldMkLst>
          <pc:docMk/>
          <pc:sldMk cId="1682135642" sldId="264"/>
        </pc:sldMkLst>
      </pc:sldChg>
      <pc:sldChg chg="modSp mod">
        <pc:chgData name="Tanvitha Vadlamudi" userId="b939f15003dd7dec" providerId="LiveId" clId="{6336E2D5-8FFC-4A1D-8B9D-2E242D583E55}" dt="2025-04-30T02:19:21.775" v="407" actId="1076"/>
        <pc:sldMkLst>
          <pc:docMk/>
          <pc:sldMk cId="2205306528" sldId="265"/>
        </pc:sldMkLst>
      </pc:sldChg>
      <pc:sldChg chg="ord">
        <pc:chgData name="Tanvitha Vadlamudi" userId="b939f15003dd7dec" providerId="LiveId" clId="{6336E2D5-8FFC-4A1D-8B9D-2E242D583E55}" dt="2025-04-29T21:00:18.761" v="2" actId="20578"/>
        <pc:sldMkLst>
          <pc:docMk/>
          <pc:sldMk cId="511602878" sldId="275"/>
        </pc:sldMkLst>
      </pc:sldChg>
      <pc:sldChg chg="modSp mod">
        <pc:chgData name="Tanvitha Vadlamudi" userId="b939f15003dd7dec" providerId="LiveId" clId="{6336E2D5-8FFC-4A1D-8B9D-2E242D583E55}" dt="2025-04-30T02:12:55.758" v="269" actId="113"/>
        <pc:sldMkLst>
          <pc:docMk/>
          <pc:sldMk cId="3112360500" sldId="276"/>
        </pc:sldMkLst>
      </pc:sldChg>
      <pc:sldChg chg="modSp mod">
        <pc:chgData name="Tanvitha Vadlamudi" userId="b939f15003dd7dec" providerId="LiveId" clId="{6336E2D5-8FFC-4A1D-8B9D-2E242D583E55}" dt="2025-04-29T23:26:59.491" v="99" actId="1076"/>
        <pc:sldMkLst>
          <pc:docMk/>
          <pc:sldMk cId="2478081548" sldId="288"/>
        </pc:sldMkLst>
      </pc:sldChg>
      <pc:sldChg chg="delSp modSp new mod">
        <pc:chgData name="Tanvitha Vadlamudi" userId="b939f15003dd7dec" providerId="LiveId" clId="{6336E2D5-8FFC-4A1D-8B9D-2E242D583E55}" dt="2025-04-29T23:17:59.592" v="64" actId="14100"/>
        <pc:sldMkLst>
          <pc:docMk/>
          <pc:sldMk cId="2487423308" sldId="294"/>
        </pc:sldMkLst>
      </pc:sldChg>
      <pc:sldChg chg="new add del">
        <pc:chgData name="Tanvitha Vadlamudi" userId="b939f15003dd7dec" providerId="LiveId" clId="{6336E2D5-8FFC-4A1D-8B9D-2E242D583E55}" dt="2025-04-29T23:14:13.343" v="12" actId="680"/>
        <pc:sldMkLst>
          <pc:docMk/>
          <pc:sldMk cId="3490426641" sldId="294"/>
        </pc:sldMkLst>
      </pc:sldChg>
      <pc:sldChg chg="new del">
        <pc:chgData name="Tanvitha Vadlamudi" userId="b939f15003dd7dec" providerId="LiveId" clId="{6336E2D5-8FFC-4A1D-8B9D-2E242D583E55}" dt="2025-04-29T23:14:12.030" v="11" actId="680"/>
        <pc:sldMkLst>
          <pc:docMk/>
          <pc:sldMk cId="12880666" sldId="295"/>
        </pc:sldMkLst>
      </pc:sldChg>
      <pc:sldChg chg="new del">
        <pc:chgData name="Tanvitha Vadlamudi" userId="b939f15003dd7dec" providerId="LiveId" clId="{6336E2D5-8FFC-4A1D-8B9D-2E242D583E55}" dt="2025-04-29T23:17:02.192" v="49" actId="2696"/>
        <pc:sldMkLst>
          <pc:docMk/>
          <pc:sldMk cId="1288645835" sldId="295"/>
        </pc:sldMkLst>
      </pc:sldChg>
      <pc:sldChg chg="new del">
        <pc:chgData name="Tanvitha Vadlamudi" userId="b939f15003dd7dec" providerId="LiveId" clId="{6336E2D5-8FFC-4A1D-8B9D-2E242D583E55}" dt="2025-04-29T23:22:22.416" v="66" actId="2696"/>
        <pc:sldMkLst>
          <pc:docMk/>
          <pc:sldMk cId="2958665138" sldId="295"/>
        </pc:sldMkLst>
      </pc:sldChg>
      <pc:sldChg chg="delSp modSp new mod">
        <pc:chgData name="Tanvitha Vadlamudi" userId="b939f15003dd7dec" providerId="LiveId" clId="{6336E2D5-8FFC-4A1D-8B9D-2E242D583E55}" dt="2025-04-29T23:24:31.409" v="98" actId="1076"/>
        <pc:sldMkLst>
          <pc:docMk/>
          <pc:sldMk cId="3700047367" sldId="295"/>
        </pc:sldMkLst>
      </pc:sldChg>
      <pc:sldChg chg="delSp modSp new mod">
        <pc:chgData name="Tanvitha Vadlamudi" userId="b939f15003dd7dec" providerId="LiveId" clId="{6336E2D5-8FFC-4A1D-8B9D-2E242D583E55}" dt="2025-04-29T23:34:38.094" v="141" actId="20577"/>
        <pc:sldMkLst>
          <pc:docMk/>
          <pc:sldMk cId="573373066" sldId="296"/>
        </pc:sldMkLst>
      </pc:sldChg>
      <pc:sldChg chg="new del">
        <pc:chgData name="Tanvitha Vadlamudi" userId="b939f15003dd7dec" providerId="LiveId" clId="{6336E2D5-8FFC-4A1D-8B9D-2E242D583E55}" dt="2025-04-29T23:33:54.299" v="126" actId="2696"/>
        <pc:sldMkLst>
          <pc:docMk/>
          <pc:sldMk cId="2483632148" sldId="296"/>
        </pc:sldMkLst>
      </pc:sldChg>
      <pc:sldChg chg="delSp modSp new mod">
        <pc:chgData name="Tanvitha Vadlamudi" userId="b939f15003dd7dec" providerId="LiveId" clId="{6336E2D5-8FFC-4A1D-8B9D-2E242D583E55}" dt="2025-04-29T23:39:48.985" v="189" actId="1076"/>
        <pc:sldMkLst>
          <pc:docMk/>
          <pc:sldMk cId="4157723246" sldId="297"/>
        </pc:sldMkLst>
      </pc:sldChg>
      <pc:sldChg chg="delSp modSp new mod">
        <pc:chgData name="Tanvitha Vadlamudi" userId="b939f15003dd7dec" providerId="LiveId" clId="{6336E2D5-8FFC-4A1D-8B9D-2E242D583E55}" dt="2025-04-30T02:09:26.809" v="233" actId="1076"/>
        <pc:sldMkLst>
          <pc:docMk/>
          <pc:sldMk cId="2416692673" sldId="298"/>
        </pc:sldMkLst>
      </pc:sldChg>
      <pc:sldChg chg="modSp add mod ord">
        <pc:chgData name="Tanvitha Vadlamudi" userId="b939f15003dd7dec" providerId="LiveId" clId="{6336E2D5-8FFC-4A1D-8B9D-2E242D583E55}" dt="2025-04-30T02:24:44.316" v="425" actId="255"/>
        <pc:sldMkLst>
          <pc:docMk/>
          <pc:sldMk cId="2871383093" sldId="299"/>
        </pc:sldMkLst>
      </pc:sldChg>
    </pc:docChg>
  </pc:docChgLst>
  <pc:docChgLst>
    <pc:chgData name="Cherishma Samala" userId="32e1d97563936e04" providerId="LiveId" clId="{BBF083C1-EE4A-41CE-B1EE-9D739C2B4598}"/>
    <pc:docChg chg="delSld modSection">
      <pc:chgData name="Cherishma Samala" userId="32e1d97563936e04" providerId="LiveId" clId="{BBF083C1-EE4A-41CE-B1EE-9D739C2B4598}" dt="2026-03-11T04:59:08.338" v="1" actId="47"/>
      <pc:docMkLst>
        <pc:docMk/>
      </pc:docMkLst>
      <pc:sldChg chg="del">
        <pc:chgData name="Cherishma Samala" userId="32e1d97563936e04" providerId="LiveId" clId="{BBF083C1-EE4A-41CE-B1EE-9D739C2B4598}" dt="2026-03-11T04:59:03.476" v="0" actId="47"/>
        <pc:sldMkLst>
          <pc:docMk/>
          <pc:sldMk cId="573373066" sldId="296"/>
        </pc:sldMkLst>
      </pc:sldChg>
      <pc:sldChg chg="del">
        <pc:chgData name="Cherishma Samala" userId="32e1d97563936e04" providerId="LiveId" clId="{BBF083C1-EE4A-41CE-B1EE-9D739C2B4598}" dt="2026-03-11T04:59:08.338" v="1" actId="47"/>
        <pc:sldMkLst>
          <pc:docMk/>
          <pc:sldMk cId="2871383093" sldId="29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rcratos/diabetes-risk-prediction/data" TargetMode="External"/><Relationship Id="rId2" Type="http://schemas.openxmlformats.org/officeDocument/2006/relationships/hyperlink" Target="https://www.kaggle.com/datasets/mrsimple07/diabetes-predic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datasets/kevintan701/diabetes-prediction-datasets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8C12C-774C-D704-7463-2849A18300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289" y="1304144"/>
            <a:ext cx="10993549" cy="996428"/>
          </a:xfrm>
        </p:spPr>
        <p:txBody>
          <a:bodyPr>
            <a:no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DIABETES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91C20-4926-D6EC-0F71-753ADE3D8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2195" y="3395272"/>
            <a:ext cx="4347149" cy="2754861"/>
          </a:xfrm>
        </p:spPr>
        <p:txBody>
          <a:bodyPr>
            <a:normAutofit/>
          </a:bodyPr>
          <a:lstStyle/>
          <a:p>
            <a:r>
              <a:rPr lang="en-US" sz="2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TANVITHA VADLAMUDI</a:t>
            </a:r>
          </a:p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SAISNEHANJALI SANIKE</a:t>
            </a:r>
          </a:p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VARSHA REDDY VEERATI </a:t>
            </a:r>
          </a:p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CHERISHMA SAMALA</a:t>
            </a:r>
          </a:p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KRISHNA CHAITANYA PALLA</a:t>
            </a:r>
          </a:p>
        </p:txBody>
      </p:sp>
    </p:spTree>
    <p:extLst>
      <p:ext uri="{BB962C8B-B14F-4D97-AF65-F5344CB8AC3E}">
        <p14:creationId xmlns:p14="http://schemas.microsoft.com/office/powerpoint/2010/main" val="1919842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9775B-81C5-0ED3-E685-8DC0ADB40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25345-509E-CBDA-7DA8-CF9C3919B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937" y="2256503"/>
            <a:ext cx="5002160" cy="4055807"/>
          </a:xfrm>
        </p:spPr>
        <p:txBody>
          <a:bodyPr>
            <a:normAutofit fontScale="55000" lnSpcReduction="20000"/>
          </a:bodyPr>
          <a:lstStyle/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</a:p>
          <a:p>
            <a:r>
              <a:rPr lang="en-US" sz="4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</a:t>
            </a:r>
          </a:p>
          <a:p>
            <a:r>
              <a:rPr lang="en-US" sz="4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attributes </a:t>
            </a:r>
          </a:p>
          <a:p>
            <a:r>
              <a:rPr lang="en-US" sz="4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&amp; Profiling</a:t>
            </a:r>
          </a:p>
          <a:p>
            <a:r>
              <a:rPr lang="en-US" sz="4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&amp; Dask</a:t>
            </a:r>
          </a:p>
          <a:p>
            <a:r>
              <a:rPr lang="en-US" sz="4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Genetic Algorithm</a:t>
            </a:r>
          </a:p>
          <a:p>
            <a:r>
              <a:rPr lang="en-US" sz="4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Dask computation &amp; Grouping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96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67759-55C6-BE39-9A02-89C1824C1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F86505-69FC-2E49-FA87-D94C01F8D4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0957" y="2346087"/>
            <a:ext cx="9886938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main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 is to forecast a patient's risk of developing diabetes by using their medical history and other health indicators.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utilizing data from many sources, the goal is to create a model that can help medical practitioners identify diabetes early on, enabling prompt intervention and individualized treatment.</a:t>
            </a:r>
          </a:p>
        </p:txBody>
      </p:sp>
    </p:spTree>
    <p:extLst>
      <p:ext uri="{BB962C8B-B14F-4D97-AF65-F5344CB8AC3E}">
        <p14:creationId xmlns:p14="http://schemas.microsoft.com/office/powerpoint/2010/main" val="4043244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59358-1B38-9B30-47BF-94DF7F4EF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F8DFC-F359-33B9-30D0-2EF002261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dataset is a complete tool for comprehending and controlling diabetes risk variables.</a:t>
            </a:r>
          </a:p>
          <a:p>
            <a:pPr algn="l" fontAlgn="base">
              <a:spcAft>
                <a:spcPts val="1200"/>
              </a:spcAft>
            </a:pP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was synthetically generated to resemble real-world health information, covering data from 2021 to 2023.  </a:t>
            </a:r>
          </a:p>
          <a:p>
            <a:pPr algn="l" fontAlgn="base"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includes the number of health indicators that are crucial for predicting and assessing diabetes risk.</a:t>
            </a:r>
            <a:endParaRPr lang="en-US" sz="20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organized to incorporate lifestyle related characteristics, health measurements, and user demographic information, all of which are essential for determining diabetes risk levels.</a:t>
            </a:r>
          </a:p>
          <a:p>
            <a:pPr algn="l" fontAlgn="base"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intends to provide a practical value distribution that supports the process of prediction and individualized health advice.</a:t>
            </a:r>
            <a:endParaRPr lang="en-US" sz="20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464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0DE69-AC34-74A9-0A5C-B7E8CFC55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AE9D9-65A5-31D0-A1D1-2C8CE2286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4178" y="2086919"/>
            <a:ext cx="3250369" cy="3950938"/>
          </a:xfrm>
        </p:spPr>
        <p:txBody>
          <a:bodyPr/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ID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Blood glucose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activity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Diet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357DD81-3E8B-1953-E450-FD1D9BB56B08}"/>
              </a:ext>
            </a:extLst>
          </p:cNvPr>
          <p:cNvSpPr txBox="1">
            <a:spLocks/>
          </p:cNvSpPr>
          <p:nvPr/>
        </p:nvSpPr>
        <p:spPr>
          <a:xfrm>
            <a:off x="6900475" y="2236238"/>
            <a:ext cx="2686666" cy="39196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Medication adherence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 level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Sleep hours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Hydration level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BMI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score, are the columns included in the dataset.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306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D745E-04AC-7C94-2FB5-6171A7222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4010" y="1017639"/>
            <a:ext cx="4683980" cy="3429000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</a:t>
            </a: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PROFILING</a:t>
            </a:r>
          </a:p>
        </p:txBody>
      </p:sp>
    </p:spTree>
    <p:extLst>
      <p:ext uri="{BB962C8B-B14F-4D97-AF65-F5344CB8AC3E}">
        <p14:creationId xmlns:p14="http://schemas.microsoft.com/office/powerpoint/2010/main" val="2416692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158DE-D655-03E2-732F-73D75D806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5DBBE-78EC-F473-A305-30A35B9D3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0936" y="2237193"/>
            <a:ext cx="8430127" cy="33775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features were selected for performing linear regression and to check run time before and after profiling namely,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bmi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sleep_hours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physical_activity</a:t>
            </a:r>
          </a:p>
        </p:txBody>
      </p:sp>
    </p:spTree>
    <p:extLst>
      <p:ext uri="{BB962C8B-B14F-4D97-AF65-F5344CB8AC3E}">
        <p14:creationId xmlns:p14="http://schemas.microsoft.com/office/powerpoint/2010/main" val="3112360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1EAF2-638C-8E8B-5EA3-20509BD18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and running time BEFORE PROFILING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68E73-6CF9-576B-F6C7-6281FFED1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9411" y="2180497"/>
            <a:ext cx="10311396" cy="1013800"/>
          </a:xfrm>
        </p:spPr>
        <p:txBody>
          <a:bodyPr/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Below is the code for LR with read.csv and it took 0.03 seconds for elapsing which is found to be larger than with fread.  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2772A68-2330-58D9-210F-4F2F43481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896" y="2960315"/>
            <a:ext cx="7090493" cy="295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261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BE68A-D592-C491-AE9B-99C7917FF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and running time BEFORE PROFILING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E5E1E1-4917-F5C3-ED9A-8B2E1063E83C}"/>
              </a:ext>
            </a:extLst>
          </p:cNvPr>
          <p:cNvSpPr txBox="1"/>
          <p:nvPr/>
        </p:nvSpPr>
        <p:spPr>
          <a:xfrm>
            <a:off x="1073425" y="2093843"/>
            <a:ext cx="99126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Below is the code for LR with fread and it took 0.02 seconds for elapsing which is found to be faster than with read.csv.</a:t>
            </a:r>
          </a:p>
        </p:txBody>
      </p:sp>
      <p:pic>
        <p:nvPicPr>
          <p:cNvPr id="11" name="Content Placeholder 1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7B0EC3D-2C67-B181-9C62-E771652F09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6941" y="2863284"/>
            <a:ext cx="6723554" cy="3035159"/>
          </a:xfrm>
        </p:spPr>
      </p:pic>
    </p:spTree>
    <p:extLst>
      <p:ext uri="{BB962C8B-B14F-4D97-AF65-F5344CB8AC3E}">
        <p14:creationId xmlns:p14="http://schemas.microsoft.com/office/powerpoint/2010/main" val="2292628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B9A66-CC6C-2AFF-F745-4B0E91CDF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9CA0A-962E-3C5A-0A15-8AAB3CB2E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379" y="2103633"/>
            <a:ext cx="10379242" cy="4052211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sz="5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p-value is found to be greater than 0.05 for weight, bmi, sleep_hours and physical_activity indicating that there is no significant relationship between the blood_glucose and the selected four features.</a:t>
            </a:r>
          </a:p>
          <a:p>
            <a:pPr>
              <a:lnSpc>
                <a:spcPct val="120000"/>
              </a:lnSpc>
            </a:pPr>
            <a:r>
              <a:rPr lang="en-US" sz="5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p-value of intercept is lesser than 0.05 indicating that it is highly significant, but it alone cannot provide any insights regarding the relationship between the blood_glucose and the weight, bmi, sleep_hours, physical_activity.</a:t>
            </a:r>
          </a:p>
          <a:p>
            <a:pPr>
              <a:lnSpc>
                <a:spcPct val="120000"/>
              </a:lnSpc>
            </a:pPr>
            <a:r>
              <a:rPr lang="en-US" sz="5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the read.csv and fread models have same coefficients eventhough they have difference in the time for loading the data. Indicating that there won't be a change in the feature importance values.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114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9FEB8-61A5-14F6-9E9D-68956FCCB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TIME AFTER PROFILING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63470-B2C7-91C6-CC99-2BD0B916C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655" y="2292791"/>
            <a:ext cx="11029615" cy="3678303"/>
          </a:xfrm>
        </p:spPr>
        <p:txBody>
          <a:bodyPr/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Loading the data: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Read.csv: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took 0.04 seconds for running after profiling for loading the data with read.csv.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fread: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took 0.02 seconds for running after profiling for loading the data with fread.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indicated that it took the less time for loading the data with fread.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963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479C9-87B9-328A-73D8-8B73786F7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FLAME GRAPH AND DATA TAB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483110-7970-4461-0EB8-19EEF324D7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4775" y="2951891"/>
            <a:ext cx="5191828" cy="3038091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7430F8-FFE1-62A6-C1AE-4C7A9D1583D4}"/>
              </a:ext>
            </a:extLst>
          </p:cNvPr>
          <p:cNvSpPr txBox="1"/>
          <p:nvPr/>
        </p:nvSpPr>
        <p:spPr>
          <a:xfrm>
            <a:off x="581192" y="2118480"/>
            <a:ext cx="75537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Below is the flame graph and data tab for read.csv after profiling:</a:t>
            </a: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3F3B67-EBC9-543E-1338-DE3FE41AA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136" y="3669902"/>
            <a:ext cx="4478899" cy="129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1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D6998-2235-C8C7-5437-E80DF8FE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FLAME GRAPH AND DATA TAB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84DB5F-CF13-415B-D022-990B79706A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24280" y="3614530"/>
            <a:ext cx="4586528" cy="101380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083DF1-4710-3E09-E139-BA86C1EBF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23" y="2610678"/>
            <a:ext cx="5839910" cy="33262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B30356-3CEC-C5A7-EE4D-C8D3C3BC0745}"/>
              </a:ext>
            </a:extLst>
          </p:cNvPr>
          <p:cNvSpPr txBox="1"/>
          <p:nvPr/>
        </p:nvSpPr>
        <p:spPr>
          <a:xfrm>
            <a:off x="581192" y="1947873"/>
            <a:ext cx="76862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Below is the flame graph and data tab for fread after profiling:</a:t>
            </a:r>
          </a:p>
        </p:txBody>
      </p:sp>
    </p:spTree>
    <p:extLst>
      <p:ext uri="{BB962C8B-B14F-4D97-AF65-F5344CB8AC3E}">
        <p14:creationId xmlns:p14="http://schemas.microsoft.com/office/powerpoint/2010/main" val="341227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4CDAD-0250-86AB-C0F6-10C3B55D0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8F5E5-AA3B-E954-77D8-21E69CE81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0242" y="2886956"/>
            <a:ext cx="8256105" cy="1759582"/>
          </a:xfrm>
        </p:spPr>
        <p:txBody>
          <a:bodyPr>
            <a:no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Compared to read.csv, the fread model is found to be the faster method as it took lesser execution time.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Benchmarking confirmed that fread model took very less time compared to the read.csv model.</a:t>
            </a:r>
          </a:p>
        </p:txBody>
      </p:sp>
    </p:spTree>
    <p:extLst>
      <p:ext uri="{BB962C8B-B14F-4D97-AF65-F5344CB8AC3E}">
        <p14:creationId xmlns:p14="http://schemas.microsoft.com/office/powerpoint/2010/main" val="511602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FE068-563C-9C3A-DE8B-D41FC4ADB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3241" y="2020529"/>
            <a:ext cx="6645517" cy="2064774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&amp; </a:t>
            </a: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DASK</a:t>
            </a:r>
          </a:p>
        </p:txBody>
      </p:sp>
    </p:spTree>
    <p:extLst>
      <p:ext uri="{BB962C8B-B14F-4D97-AF65-F5344CB8AC3E}">
        <p14:creationId xmlns:p14="http://schemas.microsoft.com/office/powerpoint/2010/main" val="4157723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93C12-A9F1-AFF8-FA85-D3F54EBA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and running time BEFORE PARALLELIZATION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815BD-C867-360B-F97D-538C6A551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24743"/>
            <a:ext cx="11029615" cy="54117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execution time for fitting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RandomForestClassifier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 before parallelization is approximately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0.0056 seconds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BACE9E-2EB7-DB9B-F2F8-730F35DF8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45"/>
          <a:stretch/>
        </p:blipFill>
        <p:spPr>
          <a:xfrm>
            <a:off x="2129408" y="2565918"/>
            <a:ext cx="7555768" cy="375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694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D437A-1671-5558-E691-925641FA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4EC2C0-EB96-F3AA-2FD8-F539006621B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-1341081" y="3111994"/>
            <a:ext cx="3258800" cy="1989878"/>
          </a:xfrm>
          <a:prstGeom prst="rect">
            <a:avLst/>
          </a:prstGeom>
        </p:spPr>
      </p:pic>
      <p:pic>
        <p:nvPicPr>
          <p:cNvPr id="5122" name="Picture 2" descr="No description has been provided for this image">
            <a:extLst>
              <a:ext uri="{FF2B5EF4-FFF2-40B4-BE49-F238E27FC236}">
                <a16:creationId xmlns:a16="http://schemas.microsoft.com/office/drawing/2014/main" id="{B65A0DEB-CDDA-D7E1-9A72-ED50574A7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265" y="2239279"/>
            <a:ext cx="4147911" cy="3757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A1D07E1C-B0B4-6DD7-A390-1D9410960D3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727258" y="2303780"/>
            <a:ext cx="560547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decision tree visualization shows a categorization model based on three features (x[0], x[1], and x[2]).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root node divides at x[0] ≤ 33.15, with a Gini impurity of 0.489, indicating some class mixing among 506 samples.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x[1] ≤ 199.542, the left subtree breaks even more, creating two leaf nodes with varying impurity levels.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new leaf nodes created when the right subtree breaks at x[2] ≤ 43.478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class separability is suggested by the Gini values across the nodes, which show a decrease in impurity as the tree gets deeper.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886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C6782-A966-A4F1-2A6C-A66B926BB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score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4A5BBA-AFCA-3C24-FE04-87480E0A23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5" t="26874" r="-2455" b="8606"/>
          <a:stretch/>
        </p:blipFill>
        <p:spPr>
          <a:xfrm>
            <a:off x="656721" y="3419669"/>
            <a:ext cx="7220958" cy="1548881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C93FF0F-8354-9FBE-1EB5-2900EA88F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166" y="2388829"/>
            <a:ext cx="1110342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E9BE3DF-C205-C4F5-7AC2-A0F233436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650" y="2388829"/>
            <a:ext cx="1034810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the test set,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RandomForest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 demonstrated a reasonable level of predictive performance with an accuracy of 0.585.</a:t>
            </a:r>
          </a:p>
        </p:txBody>
      </p:sp>
    </p:spTree>
    <p:extLst>
      <p:ext uri="{BB962C8B-B14F-4D97-AF65-F5344CB8AC3E}">
        <p14:creationId xmlns:p14="http://schemas.microsoft.com/office/powerpoint/2010/main" val="2078910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8B710-8E10-D8B0-B4A7-FB32C1A22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and running time after PARALLELIZATION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6B4C6F-D397-01C1-831C-83A5D12AB8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9276" y="2974325"/>
            <a:ext cx="6696308" cy="3323836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0D42AB7-80F9-C3B3-A54D-D1D7C1FCE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70" y="2021975"/>
            <a:ext cx="1039488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model's execution time increased to 0.0479 seconds after parallelization, suggesting that for this particular scenario, employing several tasks did not enhance performance.</a:t>
            </a:r>
          </a:p>
        </p:txBody>
      </p:sp>
    </p:spTree>
    <p:extLst>
      <p:ext uri="{BB962C8B-B14F-4D97-AF65-F5344CB8AC3E}">
        <p14:creationId xmlns:p14="http://schemas.microsoft.com/office/powerpoint/2010/main" val="447788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D6697-0E42-3B2B-E0AB-1CF4AFA12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DF71B3-54CF-1A70-C25F-754436BCF48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55780" y="2227263"/>
            <a:ext cx="4870579" cy="3633787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C9AC6D4-2C68-C4F4-8BA2-BA6B3F2B328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565642" y="2529047"/>
            <a:ext cx="446257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Based on three features, the decision tree divides the dataset, with x[0] as the root (Gini = 0.489, 506 samples).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progressively reduce impurity, the left node splits on x[1] and the right on x[2].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of the terminal nodes have lower Gini indices, which indicate purer subsets, while others display different class distributions.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structure makes it easier to efficiently classify new data points.</a:t>
            </a:r>
          </a:p>
        </p:txBody>
      </p:sp>
    </p:spTree>
    <p:extLst>
      <p:ext uri="{BB962C8B-B14F-4D97-AF65-F5344CB8AC3E}">
        <p14:creationId xmlns:p14="http://schemas.microsoft.com/office/powerpoint/2010/main" val="1557865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3707D-E024-3E90-E1A6-19ADFC0B7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score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74396F-5EB7-6FE3-AAD4-9F407099F6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477" t="39715" r="1693"/>
          <a:stretch/>
        </p:blipFill>
        <p:spPr>
          <a:xfrm>
            <a:off x="2489848" y="3259012"/>
            <a:ext cx="6801179" cy="157930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46C292-25CA-0075-DD38-D7801A69EEBB}"/>
              </a:ext>
            </a:extLst>
          </p:cNvPr>
          <p:cNvSpPr txBox="1"/>
          <p:nvPr/>
        </p:nvSpPr>
        <p:spPr>
          <a:xfrm>
            <a:off x="706795" y="2163004"/>
            <a:ext cx="9388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the test set,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RandomForest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 demonstrated a reasonable level of predictive performance with an accuracy of 0.585.</a:t>
            </a:r>
          </a:p>
        </p:txBody>
      </p:sp>
    </p:spTree>
    <p:extLst>
      <p:ext uri="{BB962C8B-B14F-4D97-AF65-F5344CB8AC3E}">
        <p14:creationId xmlns:p14="http://schemas.microsoft.com/office/powerpoint/2010/main" val="39764494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61D5E-05BB-61F4-6187-60B487A2C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method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08C4D-EDFE-C8E8-EC0B-7E47A61F1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429208"/>
            <a:ext cx="10578220" cy="552372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training time of just 0.0056 seconds, the Random Forest model was trained far more quickly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rf.fit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model.fit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method took 0.0479 seconds to finish.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that, in this case, the Random Forest model offered a more effective training procedure, maybe as a result of optimized parallelization and variations in implementation.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513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D1197-FDF6-F3F5-F97D-4940A966D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1965" y="2028824"/>
            <a:ext cx="4948070" cy="1828801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 </a:t>
            </a: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</p:spTree>
    <p:extLst>
      <p:ext uri="{BB962C8B-B14F-4D97-AF65-F5344CB8AC3E}">
        <p14:creationId xmlns:p14="http://schemas.microsoft.com/office/powerpoint/2010/main" val="37000473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7C32D-7FAC-DECC-7226-B73C3519B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and running time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3FD961-C720-C7FE-5402-9211DB17D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62" y="2072540"/>
            <a:ext cx="10749280" cy="397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1926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27BEA5-9EC6-8DA8-93F5-9DF2B2CBB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51" y="1343896"/>
            <a:ext cx="10414000" cy="417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0815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C4534-9E53-0088-7BCF-4BF7A235B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68" y="892218"/>
            <a:ext cx="6560111" cy="83498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D550D0-EF3B-E576-0608-F8680845B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27" y="2092960"/>
            <a:ext cx="6082513" cy="41859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3A494B-6EFE-5FD1-F0F6-1DDB34AFF2CF}"/>
              </a:ext>
            </a:extLst>
          </p:cNvPr>
          <p:cNvSpPr txBox="1"/>
          <p:nvPr/>
        </p:nvSpPr>
        <p:spPr>
          <a:xfrm>
            <a:off x="6370320" y="2174240"/>
            <a:ext cx="5161280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important predictor of hydration level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importance: 0.516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Activity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second most important feature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importance: 0.458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Level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minimal influence on hydration level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importance: 0.025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suggests that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weight and physical activity have a much stronger impact on hydration levels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compared to stress.</a:t>
            </a:r>
          </a:p>
        </p:txBody>
      </p:sp>
    </p:spTree>
    <p:extLst>
      <p:ext uri="{BB962C8B-B14F-4D97-AF65-F5344CB8AC3E}">
        <p14:creationId xmlns:p14="http://schemas.microsoft.com/office/powerpoint/2010/main" val="2408448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4E69F-BD27-5A00-B8A9-D57E84450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score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75CDC6-FB30-96B5-2592-F6514B3DD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0" y="3626922"/>
            <a:ext cx="11514532" cy="9695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B2FEDF-F474-0A40-6399-E0857C49DBE6}"/>
              </a:ext>
            </a:extLst>
          </p:cNvPr>
          <p:cNvSpPr txBox="1"/>
          <p:nvPr/>
        </p:nvSpPr>
        <p:spPr>
          <a:xfrm>
            <a:off x="477520" y="2255520"/>
            <a:ext cx="11127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accuracy score of the test is found to be 0.605</a:t>
            </a:r>
          </a:p>
        </p:txBody>
      </p:sp>
    </p:spTree>
    <p:extLst>
      <p:ext uri="{BB962C8B-B14F-4D97-AF65-F5344CB8AC3E}">
        <p14:creationId xmlns:p14="http://schemas.microsoft.com/office/powerpoint/2010/main" val="39698724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2E923-9701-4DE6-23CE-BCBF0167C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0312" y="1543050"/>
            <a:ext cx="6643687" cy="31718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Dask </a:t>
            </a:r>
            <a:b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 &amp; Grouping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4233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014CC-E5DA-C7EA-1D8A-0B9C3148C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code AND running time</a:t>
            </a: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BEE154-F661-3579-5F1F-54E48D29B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30" y="2156791"/>
            <a:ext cx="11211339" cy="410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6051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8D7CD0-87EE-6B46-040E-FA138FB80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87" y="1073426"/>
            <a:ext cx="10823713" cy="485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9235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66E56-B3B6-FD10-0021-731551228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731993-2130-6A69-251D-C2D88CD37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8435"/>
            <a:ext cx="9531626" cy="482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006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C917D-1DAB-E353-9501-6CB1D37B1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BD643EC1-E0CD-8D3C-9C99-F3CBD4108F1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361661" y="3825485"/>
            <a:ext cx="79811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E40D6E46-A7B9-6FA4-6DB8-648B44AEB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894" y="2557701"/>
            <a:ext cx="10366513" cy="253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average stress levels (orange line) clearly demonstrate a declining trend as physical activity increases, suggesting that physical activity consistently reduces stress.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challenging to identify a regular pattern because the average blood glucose levels (blue line) exhibit substantial variability with frequent spikes and dips.</a:t>
            </a:r>
          </a:p>
          <a:p>
            <a:pPr marL="34290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 increasing levels of physical activity, blood glucose shows a little downward trend despite the oscillations, which may indicate regulatory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5809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C8B97-A652-0930-D73E-CF0E018A2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8DDBD-F8DB-403C-6CE6-DA4D6C3C6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615212"/>
            <a:ext cx="11029615" cy="239150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Simple, M. </a:t>
            </a: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Diabetes prediction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https://www.kaggle.com/datasets/mrsimple07/diabetes-prediction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Himanshu. </a:t>
            </a: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Diabetes risk prediction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https://www.kaggle.com/datasets/rcratos/diabetes-risk-prediction/data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Kevintan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K. </a:t>
            </a: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Diabetes prediction datasets.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https://www.kaggle.com/datasets/kevintan701/diabetes-prediction-datasets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8253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CE89-30FA-EBB0-CBB6-1FF9BBE43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727" y="2201316"/>
            <a:ext cx="6314281" cy="1497507"/>
          </a:xfrm>
        </p:spPr>
        <p:txBody>
          <a:bodyPr>
            <a:noAutofit/>
          </a:bodyPr>
          <a:lstStyle/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88392175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dd51a2a-bfce-41d2-99c0-288ec45c0c2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AFBCB604044B4EAE4ADE533F5BEB52" ma:contentTypeVersion="11" ma:contentTypeDescription="Create a new document." ma:contentTypeScope="" ma:versionID="4d502f8466cebe8268b4ac235d500c09">
  <xsd:schema xmlns:xsd="http://www.w3.org/2001/XMLSchema" xmlns:xs="http://www.w3.org/2001/XMLSchema" xmlns:p="http://schemas.microsoft.com/office/2006/metadata/properties" xmlns:ns3="0dd51a2a-bfce-41d2-99c0-288ec45c0c2d" targetNamespace="http://schemas.microsoft.com/office/2006/metadata/properties" ma:root="true" ma:fieldsID="246f68ef26ea9158eeb3b2f22365c5cd" ns3:_="">
    <xsd:import namespace="0dd51a2a-bfce-41d2-99c0-288ec45c0c2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d51a2a-bfce-41d2-99c0-288ec45c0c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00A42E-1B89-49DF-84EE-388D3F3A14AE}">
  <ds:schemaRefs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2006/documentManagement/types"/>
    <ds:schemaRef ds:uri="http://purl.org/dc/dcmitype/"/>
    <ds:schemaRef ds:uri="http://purl.org/dc/terms/"/>
    <ds:schemaRef ds:uri="0dd51a2a-bfce-41d2-99c0-288ec45c0c2d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971DF3E-CF5D-49B4-95A1-97DBCA7457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dd51a2a-bfce-41d2-99c0-288ec45c0c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87A2E0-B31D-417A-951F-DC81C560B98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1327</TotalTime>
  <Words>1229</Words>
  <Application>Microsoft Office PowerPoint</Application>
  <PresentationFormat>Widescreen</PresentationFormat>
  <Paragraphs>118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Gill Sans MT</vt:lpstr>
      <vt:lpstr>Times New Roman</vt:lpstr>
      <vt:lpstr>Wingdings</vt:lpstr>
      <vt:lpstr>Wingdings 2</vt:lpstr>
      <vt:lpstr>Dividend</vt:lpstr>
      <vt:lpstr>DIABETES PREDICTION</vt:lpstr>
      <vt:lpstr>TABLE OF CONTENTS</vt:lpstr>
      <vt:lpstr>PROJECT DESCRIPTION</vt:lpstr>
      <vt:lpstr>  DATA Description</vt:lpstr>
      <vt:lpstr>DATA ATTRIBUTES</vt:lpstr>
      <vt:lpstr>LINEAR REGRESSION  &amp;  PROFILING</vt:lpstr>
      <vt:lpstr>FEATURES</vt:lpstr>
      <vt:lpstr>CODE and running time BEFORE PROFILING</vt:lpstr>
      <vt:lpstr>CODE and running time BEFORE PROFILING</vt:lpstr>
      <vt:lpstr>IMPORTANCE VALUES</vt:lpstr>
      <vt:lpstr>RUNNING TIME AFTER PROFILING</vt:lpstr>
      <vt:lpstr>FLAME GRAPH AND DATA TAB</vt:lpstr>
      <vt:lpstr>FLAME GRAPH AND DATA TAB</vt:lpstr>
      <vt:lpstr>Faster method</vt:lpstr>
      <vt:lpstr>RANDOM FOREST &amp;  DASK</vt:lpstr>
      <vt:lpstr>CODE and running time BEFORE PARALLELIZATION</vt:lpstr>
      <vt:lpstr>GRAPH</vt:lpstr>
      <vt:lpstr>Accuracy score</vt:lpstr>
      <vt:lpstr>CODE and running time after PARALLELIZATION</vt:lpstr>
      <vt:lpstr>GRAPH</vt:lpstr>
      <vt:lpstr>Accuracy score</vt:lpstr>
      <vt:lpstr>Faster method</vt:lpstr>
      <vt:lpstr>Genetic  algorithm</vt:lpstr>
      <vt:lpstr>CODE and running time</vt:lpstr>
      <vt:lpstr>PowerPoint Presentation</vt:lpstr>
      <vt:lpstr>GRAPH</vt:lpstr>
      <vt:lpstr>Accuracy score</vt:lpstr>
      <vt:lpstr>Dask  Computation &amp; Grouping </vt:lpstr>
      <vt:lpstr>code AND running time</vt:lpstr>
      <vt:lpstr>PowerPoint Presentation</vt:lpstr>
      <vt:lpstr>GRAPH</vt:lpstr>
      <vt:lpstr>INTERPRETATION</vt:lpstr>
      <vt:lpstr>REFERENCES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Tanvitha Vadlamudi</dc:creator>
  <cp:lastModifiedBy>Cherishma Samala</cp:lastModifiedBy>
  <cp:revision>12</cp:revision>
  <dcterms:created xsi:type="dcterms:W3CDTF">2025-01-28T18:53:54Z</dcterms:created>
  <dcterms:modified xsi:type="dcterms:W3CDTF">2026-03-11T04:59:13Z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0x01010060AFBCB604044B4EAE4ADE533F5BEB52</vt:lpwstr>
  </property>
</Properties>
</file>